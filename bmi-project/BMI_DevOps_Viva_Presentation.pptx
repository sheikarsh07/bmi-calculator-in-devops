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BMI Calculator CI/CD Pipeline</a:t>
            </a:r>
          </a:p>
          <a:p>
            <a:pPr>
              <a:defRPr sz="1400">
                <a:solidFill>
                  <a:srgbClr val="009688"/>
                </a:solidFill>
              </a:defRPr>
            </a:pPr>
            <a:r>
              <a:t>Complete Project Architecture, Technology Justification &amp; Viva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400"/>
              </a:spcAft>
              <a:defRPr sz="2000">
                <a:solidFill>
                  <a:srgbClr val="282C34"/>
                </a:solidFill>
              </a:defRPr>
            </a:pPr>
            <a:r>
              <a:t>Jenkins  -&gt;  Docker  -&gt;  Ansible (Trivy)  -&gt;  Terraform  -&gt;  K3s (Kubernetes)</a:t>
            </a:r>
          </a:p>
          <a:p>
            <a:pPr>
              <a:spcAft>
                <a:spcPts val="2400"/>
              </a:spcAft>
              <a:defRPr sz="2000">
                <a:solidFill>
                  <a:srgbClr val="282C34"/>
                </a:solidFill>
              </a:defRPr>
            </a:pPr>
            <a:r>
              <a:t>A Production-Grade Shift-Left Security &amp; Infrastructure-as-Code Pipeline</a:t>
            </a:r>
          </a:p>
          <a:p>
            <a:pPr>
              <a:spcAft>
                <a:spcPts val="2400"/>
              </a:spcAft>
              <a:defRPr sz="2000">
                <a:solidFill>
                  <a:srgbClr val="282C34"/>
                </a:solidFill>
              </a:defRPr>
            </a:pPr>
            <a:r>
              <a:t>Prepared for Cloud Computing &amp; DevOps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Problem Statement &amp; Pipeline Flow</a:t>
            </a:r>
          </a:p>
          <a:p>
            <a:pPr>
              <a:defRPr sz="1400">
                <a:solidFill>
                  <a:srgbClr val="009688"/>
                </a:solidFill>
              </a:defRPr>
            </a:pPr>
            <a:r>
              <a:t>Connecting the 5 stages from source code to running container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500">
                <a:solidFill>
                  <a:srgbClr val="0F2043"/>
                </a:solidFill>
              </a:defRPr>
            </a:pPr>
            <a:r>
              <a:t>1. Package (Docker)</a:t>
            </a:r>
          </a:p>
          <a:p>
            <a:pPr>
              <a:defRPr sz="1200">
                <a:solidFill>
                  <a:srgbClr val="282C34"/>
                </a:solidFill>
              </a:defRPr>
            </a:pPr>
            <a:r>
              <a:t>Builds lightweight Python 3.11-slim container. Multi-layer caching for fast rebuilds, non-root user for security.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645920"/>
            <a:ext cx="2011680" cy="438912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500">
                <a:solidFill>
                  <a:srgbClr val="0F2043"/>
                </a:solidFill>
              </a:defRPr>
            </a:pPr>
            <a:r>
              <a:t>2. Scan (Ansible + Trivy)</a:t>
            </a:r>
          </a:p>
          <a:p>
            <a:pPr>
              <a:defRPr sz="1200">
                <a:solidFill>
                  <a:srgbClr val="282C34"/>
                </a:solidFill>
              </a:defRPr>
            </a:pPr>
            <a:r>
              <a:t>Automates CVE scanning on built image. Exits with error if CRITICAL or HIGH vulnerabilities found, failing the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645920"/>
            <a:ext cx="2011680" cy="438912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500">
                <a:solidFill>
                  <a:srgbClr val="0F2043"/>
                </a:solidFill>
              </a:defRPr>
            </a:pPr>
            <a:r>
              <a:t>3. Push (Registry)</a:t>
            </a:r>
          </a:p>
          <a:p>
            <a:pPr>
              <a:defRPr sz="1200">
                <a:solidFill>
                  <a:srgbClr val="282C34"/>
                </a:solidFill>
              </a:defRPr>
            </a:pPr>
            <a:r>
              <a:t>Pushes only verified, clean images to local registry (localhost:5000), preventing infected code from reaching clusters.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2011680" cy="438912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500">
                <a:solidFill>
                  <a:srgbClr val="0F2043"/>
                </a:solidFill>
              </a:defRPr>
            </a:pPr>
            <a:r>
              <a:t>4. Deploy (Terraform)</a:t>
            </a:r>
          </a:p>
          <a:p>
            <a:pPr>
              <a:defRPr sz="1200">
                <a:solidFill>
                  <a:srgbClr val="282C34"/>
                </a:solidFill>
              </a:defRPr>
            </a:pPr>
            <a:r>
              <a:t>Declarative IaC pushes Deployment (2 replicas) and NodePort Service to K3s cluster. Maintains state and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645920"/>
            <a:ext cx="2011680" cy="438912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500">
                <a:solidFill>
                  <a:srgbClr val="0F2043"/>
                </a:solidFill>
              </a:defRPr>
            </a:pPr>
            <a:r>
              <a:t>5. Run (K3s Kubernetes)</a:t>
            </a:r>
          </a:p>
          <a:p>
            <a:pPr>
              <a:defRPr sz="1200">
                <a:solidFill>
                  <a:srgbClr val="282C34"/>
                </a:solidFill>
              </a:defRPr>
            </a:pPr>
            <a:r>
              <a:t>Lightweight K8s cluster manages pod lifecycles, health probes (/health), traffic routing, and auto-restarts.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Application Layer: Python Flask BMI App</a:t>
            </a:r>
          </a:p>
          <a:p>
            <a:pPr>
              <a:defRPr sz="1400">
                <a:solidFill>
                  <a:srgbClr val="009688"/>
                </a:solidFill>
              </a:defRPr>
            </a:pPr>
            <a:r>
              <a:t>What it is, why Flask, and why this choice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EBF0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0F2043"/>
                </a:solidFill>
              </a:defRPr>
            </a:pPr>
            <a:r>
              <a:t>What It Does &amp; Key Features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Simple web UI for weight (kg) &amp; height (m) calculation.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Calculates BMI and classifies into Underweight, Normal, Overweight, Obese.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Includes dedicated /health endpoint returning {'status': 'ok'}, 200.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The /health endpoint is CRITICAL for Kubernetes liveness &amp; readiness probes.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6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E66428"/>
                </a:solidFill>
              </a:defRPr>
            </a:pPr>
            <a:r>
              <a:t>Why Flask? (Why this &amp; not that?)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Flask vs Django: Django is monolithic and heavy with unnecessary ORM/admin for a microservice. Flask is lightweight microframework.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Flask vs Node.js: Python is standard in cloud computing and data science, zero boilerplate for REST/HTTP.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Simplicity: Fast startup (&lt;0.5s), minimal container memory (&lt;40MB), clean separation of concerns.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Packaging Layer: Docker Containerization</a:t>
            </a:r>
          </a:p>
          <a:p>
            <a:pPr>
              <a:defRPr sz="1400">
                <a:solidFill>
                  <a:srgbClr val="009688"/>
                </a:solidFill>
              </a:defRPr>
            </a:pPr>
            <a:r>
              <a:t>Eliminating 'works on my machine' with reproducible runtime environments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EBF0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0F2043"/>
                </a:solidFill>
              </a:defRPr>
            </a:pPr>
            <a:r>
              <a:t>Docker Concepts &amp; Dockerfile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Image: Immutable, portable blueprint containing code, runtime &amp; dependencies.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Container: Running isolated process created from an image.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FROM python:3.11-slim: Minimal Debian Linux base image.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Layer Caching: 'COPY requirements.txt' and 'RUN pip install' before code copy.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Security: 'USER appuser' ensures container does NOT run as root!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6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E66428"/>
                </a:solidFill>
              </a:defRPr>
            </a:pPr>
            <a:r>
              <a:t>Why Docker? (Why this &amp; not that?)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Docker vs Virtual Machines (VMs): VMs emulate full OS hardware (heavy, GBs RAM, slow boot). Containers share the host kernel (light, MBs RAM, seconds boot).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Docker vs Raw Python: No dependency version conflicts on the host system; guarantees identical behavior across dev, Jenkins, and K3s.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Universal artifact: Kubernetes natively orchestrates Docker images.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Orchestration Layer: Jenkins CI/CD</a:t>
            </a:r>
          </a:p>
          <a:p>
            <a:pPr>
              <a:defRPr sz="1400">
                <a:solidFill>
                  <a:srgbClr val="009688"/>
                </a:solidFill>
              </a:defRPr>
            </a:pPr>
            <a:r>
              <a:t>The automated conductor driving continuous integration &amp; delivery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EBF0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0F2043"/>
                </a:solidFill>
              </a:defRPr>
            </a:pPr>
            <a:r>
              <a:t>What Jenkins Does in this Project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Pipeline-as-Code via declarative Jenkinsfile in Git repository.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Listens for code commits and triggers automated multi-stage builds.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Enforces fail-fast execution: if vulnerability scan fails, downstream deployment is aborted.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Provides console logs and audit trail for every single build.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6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E66428"/>
                </a:solidFill>
              </a:defRPr>
            </a:pPr>
            <a:r>
              <a:t>Why Jenkins? (Why this &amp; not that?)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Jenkins vs GitHub Actions / GitLab CI: Cloud runners require external internet, token setups, and cost tokens. Jenkins runs 100% locally on-premises.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Jenkins vs Manual Scripts: Manual execution is error-prone, untracked, and cannot self-trigger on git push.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Extensible: Unmatched ecosystem of plugins and native pipeline scriptability.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Security Layer: Ansible + Trivy Vulnerability Scan</a:t>
            </a:r>
          </a:p>
          <a:p>
            <a:pPr>
              <a:defRPr sz="1400">
                <a:solidFill>
                  <a:srgbClr val="009688"/>
                </a:solidFill>
              </a:defRPr>
            </a:pPr>
            <a:r>
              <a:t>Implementing 'Shift-Left Security' inside the CI/CD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EBF0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0F2043"/>
                </a:solidFill>
              </a:defRPr>
            </a:pPr>
            <a:r>
              <a:t>How the Security Gate Operates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Ansible playbook (playbook.yml) targets localhost with inventory.ini.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Installs Trivy scanner automatically if not already present on host.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Executes: trivy image --severity CRITICAL,HIGH --exit-code 1 &lt;image&gt;.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If critical CVEs exist, Trivy returns exit code 1, Ansible registers failure, Jenkins halts!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6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E66428"/>
                </a:solidFill>
              </a:defRPr>
            </a:pPr>
            <a:r>
              <a:t>Why Ansible &amp; Trivy? (Why this &amp; not that?)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Ansible vs Shell Script: Ansible playbooks are idempotent, structured YAML, self-documenting, and scale to multiple target scan hosts.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Trivy vs Clair / Snyk: Snyk requires commercial API keys; Clair needs a database backend. Trivy is a single zero-config binary with fastest CVE lookup.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Shift-Left Security: Detects vulnerable OS libraries (OpenSSL, glibc) before code ever touches production.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Provisioning Layer: Terraform (IaC)</a:t>
            </a:r>
          </a:p>
          <a:p>
            <a:pPr>
              <a:defRPr sz="1400">
                <a:solidFill>
                  <a:srgbClr val="009688"/>
                </a:solidFill>
              </a:defRPr>
            </a:pPr>
            <a:r>
              <a:t>Infrastructure as Code: Declaring desired state rather than running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EBF0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0F2043"/>
                </a:solidFill>
              </a:defRPr>
            </a:pPr>
            <a:r>
              <a:t>What Terraform Manages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Uses official HashiCorp Kubernetes provider (hashicorp/kubernetes).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Connects directly to K3s cluster API via /etc/rancher/k3s/k3s.yaml.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Creates kubernetes_deployment with 2 replicas and /health liveness probe.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Creates kubernetes_service exposing application via NodePort 30080.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Dynamically receives the new image:tag from Jenkins via -var parameter.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6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E66428"/>
                </a:solidFill>
              </a:defRPr>
            </a:pPr>
            <a:r>
              <a:t>Why Terraform? (Why this &amp; not that?)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Terraform vs kubectl apply: Kubectl just blindly pushes YAML with no state tracking. Terraform maintains terraform.tfstate, tracks drift, and handles rollbacks.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Declarative vs Imperative: You declare WHAT state you want (2 replicas); Terraform calculates HOW to reach that state.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Enterprise Standard: One unified syntax (HCL) to manage K8s, AWS, Azure, GCP.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Runtime Layer: K3s (Lightweight Kubernetes)</a:t>
            </a:r>
          </a:p>
          <a:p>
            <a:pPr>
              <a:defRPr sz="1400">
                <a:solidFill>
                  <a:srgbClr val="009688"/>
                </a:solidFill>
              </a:defRPr>
            </a:pPr>
            <a:r>
              <a:t>Production-grade container orchestration with minimal footprint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EBF0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0F2043"/>
                </a:solidFill>
              </a:defRPr>
            </a:pPr>
            <a:r>
              <a:t>Kubernetes Architecture Used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Deployment: Manages ReplicaSet (2 pods). Automatically self-heals if a pod crashes.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Service (NodePort 30080): Exposes static port on every cluster node for browser access.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Liveness Probe: Continuously hits /health every 10s. Restarts pod if it fails.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Readiness Probe: Ensures pod is warm before routing traffic to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6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E66428"/>
                </a:solidFill>
              </a:defRPr>
            </a:pPr>
            <a:r>
              <a:t>Why K3s? (Why this &amp; not that?)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K3s vs Kubeadm / Full K8s: Full K8s requires 4GB+ RAM, multiple binaries, complex etcd setup. K3s is single binary under 100MB and uses &lt;512MB RAM.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K3s vs Minikube / Kind: Minikube is purely a dev simulator. K3s is a CNCF-certified, production-ready Kubernetes distribution created by Rancher.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Ideal for Edge &amp; CI/CD: Boots in 30 seconds on any Linux machine or VM.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Complete 'Why This &amp; Not That' Matrix</a:t>
            </a:r>
          </a:p>
          <a:p>
            <a:pPr>
              <a:defRPr sz="1400">
                <a:solidFill>
                  <a:srgbClr val="009688"/>
                </a:solidFill>
              </a:defRPr>
            </a:pPr>
            <a:r>
              <a:t>Memorize this table for instant high marks in your viva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64008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Tool Used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Alternative Considered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Why We Chose Our Tool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Flask (Python)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Django / Express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Microframework, ultra-fast boot, minimal memory, zero boilerplate for microservices.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Virtual Machines (VM)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Shares host OS kernel; 10x lighter, boots in seconds, standard container packaging.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Jenkins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GitHub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Runs 100% locally on-premise without cloud tokens or internet dependencies.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Ansible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Bash Shell Script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Idempotent, human-readable YAML, structured task reporting, enterprise standard.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Trivy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Clair / Snyk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Zero-dependency single binary, scans OS &amp; language packages, instant exit-code gating.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Terraform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kubectl apply -f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Tracks state (tfstate), provides diff plan, detects drift, manages full lifecycle.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K3s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Full K8s (Kubeadm)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C34"/>
                          </a:solidFill>
                        </a:defRPr>
                      </a:pPr>
                      <a:r>
                        <a:t>Lightweight single binary (&lt;100MB), CNCF-certified, uses 80% less memory than full K8s.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Top Viva Questions &amp; Answers (Part 1)</a:t>
            </a:r>
          </a:p>
          <a:p>
            <a:pPr>
              <a:defRPr sz="1400">
                <a:solidFill>
                  <a:srgbClr val="009688"/>
                </a:solidFill>
              </a:defRPr>
            </a:pPr>
            <a:r>
              <a:t>Core Architecture &amp; Pipeline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500">
                <a:solidFill>
                  <a:srgbClr val="0F2043"/>
                </a:solidFill>
              </a:defRPr>
            </a:pPr>
            <a:r>
              <a:t>Q1: What is the main goal of this project?</a:t>
            </a:r>
          </a:p>
          <a:p>
            <a:pPr>
              <a:spcAft>
                <a:spcPts val="1400"/>
              </a:spcAft>
              <a:defRPr sz="1300">
                <a:solidFill>
                  <a:srgbClr val="282C34"/>
                </a:solidFill>
              </a:defRPr>
            </a:pPr>
            <a:r>
              <a:t>Answer: To create an automated end-to-end CI/CD pipeline that packages a Python BMI app into a Docker container, enforces a security quality gate using Ansible and Trivy to scan for CVEs, and safely deploys it to a K3s Kubernetes cluster using Terraform Infrastructure-as-Code.</a:t>
            </a:r>
          </a:p>
          <a:p>
            <a:pPr>
              <a:defRPr b="1" sz="1500">
                <a:solidFill>
                  <a:srgbClr val="0F2043"/>
                </a:solidFill>
              </a:defRPr>
            </a:pPr>
            <a:r>
              <a:t>Q2: What is the purpose of the vulnerability scan gate?</a:t>
            </a:r>
          </a:p>
          <a:p>
            <a:pPr>
              <a:spcAft>
                <a:spcPts val="1400"/>
              </a:spcAft>
              <a:defRPr sz="1300">
                <a:solidFill>
                  <a:srgbClr val="282C34"/>
                </a:solidFill>
              </a:defRPr>
            </a:pPr>
            <a:r>
              <a:t>Answer: It implements 'Shift-Left Security'. By running Trivy with '--exit-code 1' via Ansible, the Jenkins pipeline immediately halts if CRITICAL or HIGH vulnerabilities are detected, preventing vulnerable code from ever reaching the cluster.</a:t>
            </a:r>
          </a:p>
          <a:p>
            <a:pPr>
              <a:defRPr b="1" sz="1500">
                <a:solidFill>
                  <a:srgbClr val="0F2043"/>
                </a:solidFill>
              </a:defRPr>
            </a:pPr>
            <a:r>
              <a:t>Q3: What does 'Shift-Left' mean in DevOps?</a:t>
            </a:r>
          </a:p>
          <a:p>
            <a:pPr>
              <a:spcAft>
                <a:spcPts val="1400"/>
              </a:spcAft>
              <a:defRPr sz="1300">
                <a:solidFill>
                  <a:srgbClr val="282C34"/>
                </a:solidFill>
              </a:defRPr>
            </a:pPr>
            <a:r>
              <a:t>Answer: It means moving testing, security checks, and compliance verification to the earliest possible stages of the software development lifecycle (left side of the pipeline), rather than discovering flaws in production.</a:t>
            </a:r>
          </a:p>
          <a:p>
            <a:pPr>
              <a:defRPr b="1" sz="1500">
                <a:solidFill>
                  <a:srgbClr val="0F2043"/>
                </a:solidFill>
              </a:defRPr>
            </a:pPr>
            <a:r>
              <a:t>Q4: What is the difference between an Image and a Container?</a:t>
            </a:r>
          </a:p>
          <a:p>
            <a:pPr>
              <a:spcAft>
                <a:spcPts val="1400"/>
              </a:spcAft>
              <a:defRPr sz="1300">
                <a:solidFill>
                  <a:srgbClr val="282C34"/>
                </a:solidFill>
              </a:defRPr>
            </a:pPr>
            <a:r>
              <a:t>Answer: An image is a static, read-only template with code, runtime, and libraries (like a class in OOP). A container is a running, stateful instance of that image (like an object in OOP).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Top Viva Questions &amp; Answers (Part 2)</a:t>
            </a:r>
          </a:p>
          <a:p>
            <a:pPr>
              <a:defRPr sz="1400">
                <a:solidFill>
                  <a:srgbClr val="009688"/>
                </a:solidFill>
              </a:defRPr>
            </a:pPr>
            <a:r>
              <a:t>Terraform, Kubernetes &amp; Operational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500">
                <a:solidFill>
                  <a:srgbClr val="0F2043"/>
                </a:solidFill>
              </a:defRPr>
            </a:pPr>
            <a:r>
              <a:t>Q5: Why use Terraform instead of kubectl apply?</a:t>
            </a:r>
          </a:p>
          <a:p>
            <a:pPr>
              <a:spcAft>
                <a:spcPts val="1400"/>
              </a:spcAft>
              <a:defRPr sz="1300">
                <a:solidFill>
                  <a:srgbClr val="282C34"/>
                </a:solidFill>
              </a:defRPr>
            </a:pPr>
            <a:r>
              <a:t>Answer: Terraform tracks state in 'terraform.tfstate', detects drift between real-world infrastructure and configuration, calculates dependencies, and provides 'terraform plan' to preview changes before applying them.</a:t>
            </a:r>
          </a:p>
          <a:p>
            <a:pPr>
              <a:defRPr b="1" sz="1500">
                <a:solidFill>
                  <a:srgbClr val="0F2043"/>
                </a:solidFill>
              </a:defRPr>
            </a:pPr>
            <a:r>
              <a:t>Q6: How does Kubernetes know if your application is healthy?</a:t>
            </a:r>
          </a:p>
          <a:p>
            <a:pPr>
              <a:spcAft>
                <a:spcPts val="1400"/>
              </a:spcAft>
              <a:defRPr sz="1300">
                <a:solidFill>
                  <a:srgbClr val="282C34"/>
                </a:solidFill>
              </a:defRPr>
            </a:pPr>
            <a:r>
              <a:t>Answer: Through Liveness and Readiness probes defined in the Terraform deployment. Kubernetes periodically performs an HTTP GET on '/health'. If the container returns anything other than 200 OK, Kubernetes automatically restarts the pod.</a:t>
            </a:r>
          </a:p>
          <a:p>
            <a:pPr>
              <a:defRPr b="1" sz="1500">
                <a:solidFill>
                  <a:srgbClr val="0F2043"/>
                </a:solidFill>
              </a:defRPr>
            </a:pPr>
            <a:r>
              <a:t>Q7: Why run as non-root user inside Dockerfile?</a:t>
            </a:r>
          </a:p>
          <a:p>
            <a:pPr>
              <a:spcAft>
                <a:spcPts val="1400"/>
              </a:spcAft>
              <a:defRPr sz="1300">
                <a:solidFill>
                  <a:srgbClr val="282C34"/>
                </a:solidFill>
              </a:defRPr>
            </a:pPr>
            <a:r>
              <a:t>Answer: Defense-in-depth security best practice. If an attacker discovers a remote code execution vulnerability in the application, running as 'appuser' prevents them from gaining root privileges on the underlying host kernel.</a:t>
            </a:r>
          </a:p>
          <a:p>
            <a:pPr>
              <a:defRPr b="1" sz="1500">
                <a:solidFill>
                  <a:srgbClr val="0F2043"/>
                </a:solidFill>
              </a:defRPr>
            </a:pPr>
            <a:r>
              <a:t>Q8: What is idempotency and where is it used?</a:t>
            </a:r>
          </a:p>
          <a:p>
            <a:pPr>
              <a:spcAft>
                <a:spcPts val="1400"/>
              </a:spcAft>
              <a:defRPr sz="1300">
                <a:solidFill>
                  <a:srgbClr val="282C34"/>
                </a:solidFill>
              </a:defRPr>
            </a:pPr>
            <a:r>
              <a:t>Answer: An idempotent operation produces the exact same result no matter how many times it is executed. Both Ansible tasks and Terraform apply are idempotent: if the desired state already exists, no changes are made.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Viva Traps: What NOT to Say &amp; Pro Tips</a:t>
            </a:r>
          </a:p>
          <a:p>
            <a:pPr>
              <a:defRPr sz="1400">
                <a:solidFill>
                  <a:srgbClr val="009688"/>
                </a:solidFill>
              </a:defRPr>
            </a:pPr>
            <a:r>
              <a:t>Avoid common pitfalls and speak like a professional cloud engineer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EBF0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0F2043"/>
                </a:solidFill>
              </a:defRPr>
            </a:pPr>
            <a:r>
              <a:t>DON'T Say This (Common Mistakes)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DON'T say: 'Docker is a virtual machine.' (Containers share host kernel; VMs emulate entire hardware!).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DON'T say: 'Terraform runs the application.' (Terraform only PROVISIONS the K8s objects; K3s runs the containers!).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DON'T say: 'Ansible does the deployment.' (Ansible runs the security scan; Terraform handles deployment!).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DON'T say: 'Kubernetes builds the Docker image.' (Jenkins and Docker build the image; Kubernetes only runs it!).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• DON'T say: 'NodePort is a load balancer in AWS.' (NodePort is a Kubernetes service type opening a port on cluster nodes).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6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E66428"/>
                </a:solidFill>
              </a:defRPr>
            </a:pPr>
            <a:r>
              <a:t>DO Say This (Pro Phrases)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DO say: 'We implemented Shift-Left Security by embedding Trivy scans inside an Ansible playbook.'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DO say: 'Terraform provides declarative Infrastructure as Code with state management and drift detection.'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DO say: 'K3s provides a CNCF-certified, lightweight Kubernetes runtime ideal for resource-constrained environments.'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DO say: 'Our Dockerfile employs layer caching and follows non-root execution principles.'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</a:defRPr>
            </a:pPr>
            <a:r>
              <a:t>✓ DO say: 'The pipeline enforces fail-fast architecture: zero vulnerable images reach the registry.'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